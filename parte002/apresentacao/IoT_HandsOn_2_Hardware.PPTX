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4"/>
  </p:notesMasterIdLst>
  <p:sldIdLst>
    <p:sldId id="256" r:id="rId2"/>
    <p:sldId id="258" r:id="rId3"/>
    <p:sldId id="261" r:id="rId4"/>
    <p:sldId id="262" r:id="rId5"/>
    <p:sldId id="263" r:id="rId6"/>
    <p:sldId id="270" r:id="rId7"/>
    <p:sldId id="279" r:id="rId8"/>
    <p:sldId id="264" r:id="rId9"/>
    <p:sldId id="265" r:id="rId10"/>
    <p:sldId id="266" r:id="rId11"/>
    <p:sldId id="276" r:id="rId12"/>
    <p:sldId id="267" r:id="rId13"/>
    <p:sldId id="268" r:id="rId14"/>
    <p:sldId id="277" r:id="rId15"/>
    <p:sldId id="269" r:id="rId16"/>
    <p:sldId id="272" r:id="rId17"/>
    <p:sldId id="271" r:id="rId18"/>
    <p:sldId id="274" r:id="rId19"/>
    <p:sldId id="273" r:id="rId20"/>
    <p:sldId id="278" r:id="rId21"/>
    <p:sldId id="275" r:id="rId22"/>
    <p:sldId id="26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ulo" id="{AA775394-155C-4BCB-8724-3918DAACDBC1}">
          <p14:sldIdLst>
            <p14:sldId id="256"/>
          </p14:sldIdLst>
        </p14:section>
        <p14:section name="Conteúdo" id="{38153FE0-67D6-47BA-ACBB-56F475C1FE71}">
          <p14:sldIdLst>
            <p14:sldId id="258"/>
            <p14:sldId id="261"/>
            <p14:sldId id="262"/>
            <p14:sldId id="263"/>
            <p14:sldId id="270"/>
            <p14:sldId id="279"/>
            <p14:sldId id="264"/>
            <p14:sldId id="265"/>
            <p14:sldId id="266"/>
            <p14:sldId id="276"/>
            <p14:sldId id="267"/>
            <p14:sldId id="268"/>
            <p14:sldId id="277"/>
            <p14:sldId id="269"/>
            <p14:sldId id="272"/>
            <p14:sldId id="271"/>
            <p14:sldId id="274"/>
            <p14:sldId id="273"/>
            <p14:sldId id="278"/>
            <p14:sldId id="275"/>
          </p14:sldIdLst>
        </p14:section>
        <p14:section name="Final" id="{25783C76-5BF7-43BB-B9A6-32ACE2DA6D39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44" autoAdjust="0"/>
    <p:restoredTop sz="94660"/>
  </p:normalViewPr>
  <p:slideViewPr>
    <p:cSldViewPr snapToGrid="0">
      <p:cViewPr>
        <p:scale>
          <a:sx n="80" d="100"/>
          <a:sy n="80" d="100"/>
        </p:scale>
        <p:origin x="1074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41EB-B9DA-417F-BD56-7A8276D48DA2}" type="datetimeFigureOut">
              <a:rPr lang="en-US"/>
              <a:t>5/8/2015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0649A-570B-402C-8912-348CF21373E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0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0649A-570B-402C-8912-348CF21373E4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7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0649A-570B-402C-8912-348CF21373E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59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51189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05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1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4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4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6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6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4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7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76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29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5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4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67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13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3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FA7AC5-6045-4418-8E60-F48788734473}" type="datetimeFigureOut">
              <a:rPr lang="en-US" smtClean="0"/>
              <a:t>5/8/2015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4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andy.pt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tny.cz/e525c1b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duino-tvout.googlecode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arduino-tvout.googlecode.com/files/TVoutBeta1.zip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andy.pt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7710" y="461964"/>
            <a:ext cx="4245225" cy="790575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31093" y="1252539"/>
            <a:ext cx="3321842" cy="36195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09 de </a:t>
            </a:r>
            <a:r>
              <a:rPr lang="en-US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maio</a:t>
            </a:r>
            <a:r>
              <a:rPr lang="en-US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– 09:30 – Main Hub</a:t>
            </a:r>
            <a:endParaRPr lang="en-US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24" y="1614489"/>
            <a:ext cx="4043927" cy="3572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97543" y="3832461"/>
            <a:ext cx="505539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3200" b="1" dirty="0" smtClean="0"/>
              <a:t>Hardware &amp;</a:t>
            </a:r>
            <a:br>
              <a:rPr lang="pt-PT" sz="3200" b="1" dirty="0" smtClean="0"/>
            </a:br>
            <a:r>
              <a:rPr lang="pt-PT" sz="3200" b="1" dirty="0" smtClean="0"/>
              <a:t> Electrónica </a:t>
            </a:r>
            <a:r>
              <a:rPr lang="pt-PT" sz="3200" b="1" dirty="0"/>
              <a:t>para </a:t>
            </a:r>
            <a:r>
              <a:rPr lang="pt-PT" sz="3200" b="1" dirty="0" err="1" smtClean="0"/>
              <a:t>Tótós</a:t>
            </a:r>
            <a:r>
              <a:rPr lang="pt-PT" sz="3200" dirty="0" smtClean="0"/>
              <a:t/>
            </a:r>
            <a:br>
              <a:rPr lang="pt-PT" sz="3200" dirty="0" smtClean="0"/>
            </a:br>
            <a:r>
              <a:rPr lang="pt-PT" sz="3200" dirty="0" smtClean="0"/>
              <a:t> </a:t>
            </a:r>
            <a:r>
              <a:rPr lang="pt-PT" sz="2000" dirty="0"/>
              <a:t>(Como não apanhar choques </a:t>
            </a:r>
            <a:r>
              <a:rPr lang="pt-PT" sz="2000" dirty="0" smtClean="0"/>
              <a:t>eléctricos</a:t>
            </a:r>
            <a:endParaRPr lang="pt-PT" dirty="0" smtClean="0"/>
          </a:p>
          <a:p>
            <a:pPr algn="r"/>
            <a:r>
              <a:rPr lang="pt-PT" sz="2000" dirty="0" smtClean="0"/>
              <a:t>ou </a:t>
            </a:r>
            <a:r>
              <a:rPr lang="pt-PT" sz="2000" dirty="0"/>
              <a:t>como dar choques a alguém</a:t>
            </a:r>
            <a:r>
              <a:rPr lang="pt-PT" sz="2000" dirty="0" smtClean="0"/>
              <a:t>)</a:t>
            </a:r>
            <a:endParaRPr lang="en-US" sz="3000" dirty="0">
              <a:latin typeface="Franklin Gothic Demi" panose="020B0703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69098" y="5904454"/>
            <a:ext cx="192713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PT" sz="2100" dirty="0">
                <a:latin typeface="+mj-lt"/>
              </a:rPr>
              <a:t>André Melancia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3404" y="6355730"/>
            <a:ext cx="12405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350" dirty="0">
                <a:hlinkClick r:id="rId5"/>
              </a:rPr>
              <a:t>http://Andy.PT</a:t>
            </a:r>
            <a:endParaRPr lang="pt-PT" sz="1350" dirty="0"/>
          </a:p>
        </p:txBody>
      </p:sp>
    </p:spTree>
    <p:extLst>
      <p:ext uri="{BB962C8B-B14F-4D97-AF65-F5344CB8AC3E}">
        <p14:creationId xmlns:p14="http://schemas.microsoft.com/office/powerpoint/2010/main" val="415708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205591"/>
            <a:ext cx="2434772" cy="56412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Hardware 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&amp;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Electrónica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para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Tótós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62593" y="1214844"/>
            <a:ext cx="78507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u="sng" dirty="0" smtClean="0"/>
              <a:t>Cardápio:</a:t>
            </a:r>
          </a:p>
          <a:p>
            <a:endParaRPr lang="pt-PT" sz="3600" b="1" u="sng" dirty="0" smtClean="0"/>
          </a:p>
          <a:p>
            <a:pPr marL="742950" indent="-742950">
              <a:buFont typeface="+mj-lt"/>
              <a:buAutoNum type="arabicPeriod"/>
            </a:pPr>
            <a:r>
              <a:rPr lang="en-US" sz="3600" dirty="0" err="1" smtClean="0"/>
              <a:t>Electricidade</a:t>
            </a:r>
            <a:r>
              <a:rPr lang="en-US" sz="3600" dirty="0" smtClean="0"/>
              <a:t> </a:t>
            </a:r>
            <a:endParaRPr lang="en-US" sz="3600" dirty="0"/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Arduino &amp; </a:t>
            </a:r>
            <a:r>
              <a:rPr lang="en-US" sz="3600" dirty="0" err="1" smtClean="0"/>
              <a:t>companhia</a:t>
            </a:r>
            <a:endParaRPr lang="en-US" sz="3600" dirty="0"/>
          </a:p>
          <a:p>
            <a:pPr marL="742950" indent="-742950">
              <a:buFont typeface="+mj-lt"/>
              <a:buAutoNum type="arabicPeriod"/>
            </a:pPr>
            <a:r>
              <a:rPr lang="en-US" sz="3600" dirty="0" err="1" smtClean="0"/>
              <a:t>Sensores</a:t>
            </a:r>
            <a:endParaRPr lang="en-US" sz="3600" dirty="0"/>
          </a:p>
          <a:p>
            <a:pPr marL="742950" indent="-742950">
              <a:buFont typeface="+mj-lt"/>
              <a:buAutoNum type="arabicPeriod"/>
            </a:pPr>
            <a:r>
              <a:rPr lang="en-US" sz="3600" dirty="0" err="1" smtClean="0"/>
              <a:t>Actuadores</a:t>
            </a:r>
            <a:r>
              <a:rPr lang="en-US" sz="3600" dirty="0" smtClean="0"/>
              <a:t> e </a:t>
            </a:r>
            <a:r>
              <a:rPr lang="en-US" sz="3600" dirty="0" err="1" smtClean="0"/>
              <a:t>saídas</a:t>
            </a:r>
            <a:r>
              <a:rPr lang="en-US" sz="3600" dirty="0" smtClean="0"/>
              <a:t> 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3600" dirty="0"/>
          </a:p>
        </p:txBody>
      </p:sp>
    </p:spTree>
    <p:extLst>
      <p:ext uri="{BB962C8B-B14F-4D97-AF65-F5344CB8AC3E}">
        <p14:creationId xmlns:p14="http://schemas.microsoft.com/office/powerpoint/2010/main" val="132075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205591"/>
            <a:ext cx="2434772" cy="56412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Hardware &amp;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Electrónica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para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Tótós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1409700"/>
            <a:ext cx="71628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7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1.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Electricidade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Grandezas eléctricas</a:t>
            </a:r>
            <a:endParaRPr lang="pt-PT" sz="3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226629"/>
              </p:ext>
            </p:extLst>
          </p:nvPr>
        </p:nvGraphicFramePr>
        <p:xfrm>
          <a:off x="1523998" y="1981198"/>
          <a:ext cx="7264402" cy="4040242"/>
        </p:xfrm>
        <a:graphic>
          <a:graphicData uri="http://schemas.openxmlformats.org/drawingml/2006/table">
            <a:tbl>
              <a:tblPr/>
              <a:tblGrid>
                <a:gridCol w="2362586"/>
                <a:gridCol w="1409061"/>
                <a:gridCol w="1195240"/>
                <a:gridCol w="751898"/>
                <a:gridCol w="1545617"/>
              </a:tblGrid>
              <a:tr h="275897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Grandeza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Unidade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Equivalência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689741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Tensão Eléctrica</a:t>
                      </a:r>
                      <a:b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(Diferença de Potencial / "voltagem")</a:t>
                      </a:r>
                      <a:endParaRPr lang="pt-PT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   v   vₒ   vₓ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 = I∙R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  <a:tr h="482819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Intensidade Eléctrica</a:t>
                      </a:r>
                      <a:b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(Corrente)</a:t>
                      </a:r>
                      <a:endParaRPr lang="pt-PT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  Iₓ   iₓ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Ampere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= U / 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  <a:tr h="275897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Resistência Eléctrica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  Rₓ  rₓ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Ohm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l-G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Ω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= U / I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  <a:tr h="482819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Potência Eléctrica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   Pₓ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b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(VA)</a:t>
                      </a:r>
                      <a:endParaRPr lang="pt-PT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 = U∙I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5897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Energia Eléctrica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  Eₓ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Joule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= P∙t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2819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Carga Eléctrica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Coulomb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     A∙s</a:t>
                      </a:r>
                      <a:b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100" b="0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(Ah)</a:t>
                      </a:r>
                      <a:endParaRPr lang="pt-PT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 = I∙t = E / U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5897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Capacidade Eléctrica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   Cₓ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Farad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 = Q / U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2819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Período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(Tempo)</a:t>
                      </a:r>
                      <a:endParaRPr lang="pt-PT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   tₒ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Segundo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100" b="0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(h)</a:t>
                      </a:r>
                      <a:endParaRPr lang="pt-PT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= 1 / F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</a:tr>
              <a:tr h="275897"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Frequência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   fₓ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Hertz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 = 1 / t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1.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Electricidade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Contínua e Alternada</a:t>
            </a:r>
            <a:endParaRPr lang="pt-PT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1" y="2180027"/>
            <a:ext cx="656272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1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1.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Electricidade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Digital</a:t>
            </a:r>
            <a:endParaRPr lang="pt-PT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832" y="2180027"/>
            <a:ext cx="7682539" cy="27301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17800" y="5664200"/>
            <a:ext cx="5016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smtClean="0"/>
              <a:t>Nota: No </a:t>
            </a:r>
            <a:r>
              <a:rPr lang="pt-PT" dirty="0" err="1" smtClean="0"/>
              <a:t>Raspberry</a:t>
            </a:r>
            <a:r>
              <a:rPr lang="pt-PT" dirty="0" smtClean="0"/>
              <a:t> PI usa 3,3V</a:t>
            </a:r>
            <a:br>
              <a:rPr lang="pt-PT" dirty="0" smtClean="0"/>
            </a:br>
            <a:r>
              <a:rPr lang="pt-PT" dirty="0" smtClean="0"/>
              <a:t>             Em computadores recentes pode ser menos!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5117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1.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Electricidade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Tensões</a:t>
            </a:r>
            <a:endParaRPr lang="pt-PT" sz="36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628542"/>
              </p:ext>
            </p:extLst>
          </p:nvPr>
        </p:nvGraphicFramePr>
        <p:xfrm>
          <a:off x="1576137" y="2009276"/>
          <a:ext cx="6870032" cy="4150894"/>
        </p:xfrm>
        <a:graphic>
          <a:graphicData uri="http://schemas.openxmlformats.org/drawingml/2006/table">
            <a:tbl>
              <a:tblPr/>
              <a:tblGrid>
                <a:gridCol w="2258641"/>
                <a:gridCol w="2572341"/>
                <a:gridCol w="1113635"/>
                <a:gridCol w="925415"/>
              </a:tblGrid>
              <a:tr h="71980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Aplicação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Exemplo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Corrente contínua (DC)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Corrente alternada</a:t>
                      </a:r>
                      <a:b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(AC)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39936">
                <a:tc>
                  <a:txBody>
                    <a:bodyPr/>
                    <a:lstStyle/>
                    <a:p>
                      <a:pPr algn="l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Audio normalizado 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RCA, SCART, etc.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± 1,0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239936">
                <a:tc>
                  <a:txBody>
                    <a:bodyPr/>
                    <a:lstStyle/>
                    <a:p>
                      <a:pPr algn="l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Vídeo composto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RCA, SCART, S-Video, etc.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± 1,0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239936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Ethernet 10BASE-T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Rede por cabo (8P8C)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± 2,5 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239936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Digital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Raspberry PI, PCs (bus PCI), etc.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3,3 V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9936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Digital (clássico)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Arduino, PCs, etc.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 V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9936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Série (RS-232)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Comunicação, ratos clássicos, etc.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± 15,0 V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9856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Telefone analógico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Rede pública, ADSL, PBX privado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30V a 50V</a:t>
                      </a:r>
                      <a:b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(alimentação)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75V</a:t>
                      </a:r>
                      <a:b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(ring)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39936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Alimentação EU (Monofásica)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 V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39936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Alimentação EU (Trifásica)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 V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479872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Comboio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 V</a:t>
                      </a:r>
                      <a:b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(Cascais)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25 000 V</a:t>
                      </a:r>
                      <a:b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(normal)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491869"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Cinescópio de televisão CRT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pt-P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até 30 000 V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60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1.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Electricidade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Circuito básico</a:t>
            </a:r>
            <a:endParaRPr lang="pt-PT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1" y="2063750"/>
            <a:ext cx="3533775" cy="3009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0" y="2063750"/>
            <a:ext cx="3354116" cy="16081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637" y="4173537"/>
            <a:ext cx="2443163" cy="22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20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1.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Electricidade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err="1" smtClean="0"/>
              <a:t>Breadboard</a:t>
            </a:r>
            <a:endParaRPr lang="pt-PT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00" y="1980572"/>
            <a:ext cx="7366000" cy="400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6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1.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Electricidade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Multímetro</a:t>
            </a:r>
            <a:endParaRPr lang="pt-PT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950" y="1343025"/>
            <a:ext cx="3924300" cy="523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9701" y="2527300"/>
            <a:ext cx="2844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Voltímetro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Amperímetro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Ohmímetro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Medidor de continuidade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Etc.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94170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1.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Electricidade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262" y="1234440"/>
            <a:ext cx="7073395" cy="497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1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2. Arduino &amp;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companhia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err="1" smtClean="0"/>
              <a:t>Pinouts</a:t>
            </a:r>
            <a:endParaRPr lang="pt-PT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538" y="1883243"/>
            <a:ext cx="6777833" cy="47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63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2. Arduino &amp;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companhia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Inputs e Outputs</a:t>
            </a:r>
            <a:endParaRPr lang="pt-PT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485411" y="1949116"/>
            <a:ext cx="509318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 smtClean="0"/>
              <a:t>Digitais 	  (I/O)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 smtClean="0"/>
              <a:t>Analógicos (In)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 smtClean="0"/>
              <a:t>PWM            (Out)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 smtClean="0"/>
              <a:t>SPI / I²C       (I/O)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 smtClean="0"/>
              <a:t>RS232          (I/O e programação)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 err="1" smtClean="0"/>
              <a:t>Shields</a:t>
            </a:r>
            <a:endParaRPr lang="pt-PT" sz="28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Ethernet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Wireless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RF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LCD / Display / </a:t>
            </a:r>
            <a:r>
              <a:rPr lang="pt-PT" sz="2400" dirty="0" err="1" smtClean="0"/>
              <a:t>Touch</a:t>
            </a:r>
            <a:endParaRPr lang="pt-PT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400" dirty="0" smtClean="0"/>
              <a:t>Etc.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9808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2. Arduino &amp;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companhia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99" y="1343231"/>
            <a:ext cx="3910965" cy="523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65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solidFill>
                  <a:srgbClr val="00B0F0"/>
                </a:solidFill>
                <a:latin typeface="Franklin Gothic Demi" panose="020B0703020102020204" pitchFamily="34" charset="0"/>
              </a:rPr>
              <a:t>3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Sensores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Sensores e Inputs</a:t>
            </a:r>
            <a:endParaRPr lang="pt-PT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511300" y="1861175"/>
            <a:ext cx="7324441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Botões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Fechado ("Ligado") ou aberto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E.g. botão de pressão, interruptor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Potenciómetros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De Ø a </a:t>
            </a:r>
            <a:r>
              <a:rPr lang="pt-PT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x</a:t>
            </a:r>
            <a:r>
              <a:rPr lang="pt-PT" sz="2000" dirty="0" smtClean="0"/>
              <a:t> 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Sensores com dados analógicos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De Ø a 5V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E.g. temperatura, luminosidade (</a:t>
            </a:r>
            <a:r>
              <a:rPr lang="pt-PT" sz="2000" dirty="0" err="1" smtClean="0"/>
              <a:t>fotoresistência</a:t>
            </a:r>
            <a:r>
              <a:rPr lang="pt-PT" sz="2000" dirty="0" smtClean="0"/>
              <a:t>), toque,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Sensores com dados digitais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ØV ou 5V (False/Ø ou </a:t>
            </a:r>
            <a:r>
              <a:rPr lang="pt-PT" sz="2000" dirty="0" err="1" smtClean="0"/>
              <a:t>True</a:t>
            </a:r>
            <a:r>
              <a:rPr lang="pt-PT" sz="2000" dirty="0" smtClean="0"/>
              <a:t>/1)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E.g. presença, humidade, temperatura, chama, gases,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SPI / I²C (comunicação digital)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E.g. qualquer dos anteriores</a:t>
            </a:r>
          </a:p>
        </p:txBody>
      </p:sp>
    </p:spTree>
    <p:extLst>
      <p:ext uri="{BB962C8B-B14F-4D97-AF65-F5344CB8AC3E}">
        <p14:creationId xmlns:p14="http://schemas.microsoft.com/office/powerpoint/2010/main" val="4054106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4.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Actuadores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e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saídas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Actuadores e Outputs</a:t>
            </a:r>
            <a:endParaRPr lang="pt-PT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511300" y="1861175"/>
            <a:ext cx="212872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Relés (</a:t>
            </a:r>
            <a:r>
              <a:rPr lang="pt-PT" sz="2000" dirty="0" err="1" smtClean="0"/>
              <a:t>relays</a:t>
            </a:r>
            <a:r>
              <a:rPr lang="pt-PT" sz="20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Outras cargas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Motores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Lâmpadas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err="1" smtClean="0"/>
              <a:t>Ventoínhas</a:t>
            </a:r>
            <a:endParaRPr lang="pt-PT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Etc.</a:t>
            </a:r>
          </a:p>
          <a:p>
            <a:pPr lvl="1"/>
            <a:endParaRPr lang="pt-PT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0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733" y="1214844"/>
            <a:ext cx="3103091" cy="27475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378" y="2369006"/>
            <a:ext cx="344751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97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4.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Actuadores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e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saídas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smtClean="0"/>
              <a:t>Actuadores e Outputs</a:t>
            </a:r>
            <a:endParaRPr lang="pt-PT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511300" y="1861175"/>
            <a:ext cx="3316742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 smtClean="0"/>
              <a:t>LEDs</a:t>
            </a:r>
            <a:r>
              <a:rPr lang="pt-PT" sz="2000" dirty="0"/>
              <a:t> (light </a:t>
            </a:r>
            <a:r>
              <a:rPr lang="pt-PT" sz="2000" dirty="0" err="1"/>
              <a:t>emitting</a:t>
            </a:r>
            <a:r>
              <a:rPr lang="pt-PT" sz="2000" dirty="0"/>
              <a:t> </a:t>
            </a:r>
            <a:r>
              <a:rPr lang="pt-PT" sz="2000" dirty="0" err="1" smtClean="0"/>
              <a:t>diode</a:t>
            </a:r>
            <a:r>
              <a:rPr lang="pt-PT" sz="2000" dirty="0" smtClean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1 cor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2 cores (R+G)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RGB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LCD (</a:t>
            </a:r>
            <a:r>
              <a:rPr lang="pt-PT" sz="2000" dirty="0" err="1" smtClean="0"/>
              <a:t>liquid</a:t>
            </a:r>
            <a:r>
              <a:rPr lang="pt-PT" sz="2000" dirty="0" smtClean="0"/>
              <a:t> </a:t>
            </a:r>
            <a:r>
              <a:rPr lang="pt-PT" sz="2000" dirty="0" err="1" smtClean="0"/>
              <a:t>crystal</a:t>
            </a:r>
            <a:r>
              <a:rPr lang="pt-PT" sz="2000" dirty="0" smtClean="0"/>
              <a:t> display)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Ou TFT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Com ou sem </a:t>
            </a:r>
            <a:r>
              <a:rPr lang="pt-PT" sz="2000" dirty="0" err="1" smtClean="0"/>
              <a:t>touch</a:t>
            </a:r>
            <a:endParaRPr lang="pt-PT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TV out!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00" y="1931387"/>
            <a:ext cx="3804665" cy="11522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900" y="3467100"/>
            <a:ext cx="3796660" cy="200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90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4.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Actuadores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e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saídas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err="1" smtClean="0"/>
              <a:t>Arduino</a:t>
            </a:r>
            <a:r>
              <a:rPr lang="pt-PT" sz="3600" dirty="0" smtClean="0"/>
              <a:t> com som!</a:t>
            </a:r>
            <a:endParaRPr lang="pt-PT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511300" y="1842750"/>
            <a:ext cx="377212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Com </a:t>
            </a:r>
            <a:r>
              <a:rPr lang="pt-PT" sz="2000" dirty="0" err="1" smtClean="0"/>
              <a:t>buzzer</a:t>
            </a:r>
            <a:r>
              <a:rPr lang="pt-PT" sz="2000" dirty="0" smtClean="0"/>
              <a:t> (</a:t>
            </a:r>
            <a:r>
              <a:rPr lang="pt-PT" sz="2000" dirty="0" err="1" smtClean="0"/>
              <a:t>piezo</a:t>
            </a:r>
            <a:r>
              <a:rPr lang="pt-PT" sz="20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Por saída de áudio normalizado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E.g. </a:t>
            </a:r>
            <a:r>
              <a:rPr lang="pt-PT" dirty="0">
                <a:hlinkClick r:id="rId3"/>
              </a:rPr>
              <a:t>http://</a:t>
            </a:r>
            <a:r>
              <a:rPr lang="pt-PT" dirty="0" smtClean="0">
                <a:hlinkClick r:id="rId3"/>
              </a:rPr>
              <a:t>tny.cz/e525c1b2</a:t>
            </a:r>
            <a:r>
              <a:rPr lang="pt-PT" dirty="0" smtClean="0"/>
              <a:t> 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smtClean="0"/>
              <a:t>Esquema: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-PT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-PT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049866"/>
            <a:ext cx="5610528" cy="33735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576" y="4052716"/>
            <a:ext cx="12192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543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4.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Actuadores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e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saídas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9701" y="1214844"/>
            <a:ext cx="76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 err="1" smtClean="0"/>
              <a:t>Arduino</a:t>
            </a:r>
            <a:r>
              <a:rPr lang="pt-PT" sz="3600" dirty="0" smtClean="0"/>
              <a:t> na televisão!</a:t>
            </a:r>
            <a:endParaRPr lang="pt-PT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511300" y="1842750"/>
            <a:ext cx="7371505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Por vídeo composto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>
                <a:hlinkClick r:id="rId3"/>
              </a:rPr>
              <a:t>https://arduino-tvout.googlecode.com</a:t>
            </a:r>
            <a:endParaRPr lang="pt-PT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 smtClean="0"/>
              <a:t>Library</a:t>
            </a:r>
            <a:r>
              <a:rPr lang="pt-PT" dirty="0" smtClean="0"/>
              <a:t>: </a:t>
            </a:r>
            <a:r>
              <a:rPr lang="pt-PT" dirty="0">
                <a:hlinkClick r:id="rId4"/>
              </a:rPr>
              <a:t>https://</a:t>
            </a:r>
            <a:r>
              <a:rPr lang="pt-PT" dirty="0" smtClean="0">
                <a:hlinkClick r:id="rId4"/>
              </a:rPr>
              <a:t>arduino-tvout.googlecode.com/files/TVoutBeta1.zip</a:t>
            </a:r>
            <a:endParaRPr lang="pt-PT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smtClean="0"/>
              <a:t>Esquema: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-PT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-PT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430" y="3146742"/>
            <a:ext cx="5286375" cy="3190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711" y="3627854"/>
            <a:ext cx="2219828" cy="168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13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342900"/>
            <a:ext cx="2434772" cy="42681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4.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Actuadores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e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saídas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507" y="1200150"/>
            <a:ext cx="68389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55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35538" y="205591"/>
            <a:ext cx="3159422" cy="5893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50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sz="4050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sz="4050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04503"/>
            <a:ext cx="895964" cy="79148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162593" y="895991"/>
            <a:ext cx="7850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/>
          <p:cNvSpPr txBox="1">
            <a:spLocks/>
          </p:cNvSpPr>
          <p:nvPr/>
        </p:nvSpPr>
        <p:spPr>
          <a:xfrm>
            <a:off x="6578600" y="205591"/>
            <a:ext cx="2434772" cy="56412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Hardware &amp;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Electrónica</a:t>
            </a:r>
            <a:r>
              <a:rPr lang="en-US" sz="1600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para </a:t>
            </a:r>
            <a:r>
              <a:rPr lang="en-US" sz="1600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Tótós</a:t>
            </a:r>
            <a:endParaRPr lang="en-US" sz="16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951" y="1201308"/>
            <a:ext cx="5188062" cy="518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3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7710" y="461964"/>
            <a:ext cx="4245225" cy="790575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Hands On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Franklin Gothic Demi" panose="020B0703020102020204" pitchFamily="34" charset="0"/>
              </a:rPr>
              <a:t>IoT</a:t>
            </a:r>
            <a:endParaRPr lang="en-US" dirty="0">
              <a:solidFill>
                <a:schemeClr val="bg2">
                  <a:lumMod val="50000"/>
                </a:schemeClr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31093" y="1252539"/>
            <a:ext cx="3321842" cy="36195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09 de </a:t>
            </a:r>
            <a:r>
              <a:rPr lang="en-US" dirty="0" err="1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maio</a:t>
            </a:r>
            <a:r>
              <a:rPr lang="en-US" dirty="0" smtClean="0">
                <a:solidFill>
                  <a:srgbClr val="00B0F0"/>
                </a:solidFill>
                <a:latin typeface="Franklin Gothic Demi" panose="020B0703020102020204" pitchFamily="34" charset="0"/>
              </a:rPr>
              <a:t> – 09:30 – Main Hub</a:t>
            </a:r>
            <a:endParaRPr lang="en-US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24" y="1614489"/>
            <a:ext cx="4043927" cy="3572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69098" y="5904454"/>
            <a:ext cx="192713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PT" sz="2100" dirty="0">
                <a:latin typeface="+mj-lt"/>
              </a:rPr>
              <a:t>André Melancia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3404" y="6355730"/>
            <a:ext cx="12405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350" dirty="0">
                <a:hlinkClick r:id="rId5"/>
              </a:rPr>
              <a:t>http://Andy.PT</a:t>
            </a:r>
            <a:endParaRPr lang="pt-PT" sz="1350" dirty="0"/>
          </a:p>
        </p:txBody>
      </p:sp>
      <p:sp>
        <p:nvSpPr>
          <p:cNvPr id="9" name="TextBox 8"/>
          <p:cNvSpPr txBox="1"/>
          <p:nvPr/>
        </p:nvSpPr>
        <p:spPr>
          <a:xfrm>
            <a:off x="4993106" y="4229100"/>
            <a:ext cx="39451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6000" b="1" dirty="0" smtClean="0"/>
              <a:t>Obrigado!</a:t>
            </a:r>
            <a:endParaRPr lang="pt-PT" sz="6000" b="1" dirty="0"/>
          </a:p>
        </p:txBody>
      </p:sp>
    </p:spTree>
    <p:extLst>
      <p:ext uri="{BB962C8B-B14F-4D97-AF65-F5344CB8AC3E}">
        <p14:creationId xmlns:p14="http://schemas.microsoft.com/office/powerpoint/2010/main" val="55016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406</TotalTime>
  <Words>628</Words>
  <Application>Microsoft Office PowerPoint</Application>
  <PresentationFormat>On-screen Show (4:3)</PresentationFormat>
  <Paragraphs>230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Corbel</vt:lpstr>
      <vt:lpstr>Franklin Gothic Demi</vt:lpstr>
      <vt:lpstr>Parallax</vt:lpstr>
      <vt:lpstr>Hands On IoT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Hands On IoT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Andre' Melancia</cp:lastModifiedBy>
  <cp:revision>39</cp:revision>
  <dcterms:created xsi:type="dcterms:W3CDTF">2012-07-27T01:16:44Z</dcterms:created>
  <dcterms:modified xsi:type="dcterms:W3CDTF">2015-05-09T00:09:45Z</dcterms:modified>
</cp:coreProperties>
</file>